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Mukta Light" panose="020B0604020202020204" charset="0"/>
      <p:regular r:id="rId18"/>
    </p:embeddedFont>
    <p:embeddedFont>
      <p:font typeface="Prompt Light" panose="00000400000000000000" pitchFamily="2" charset="-34"/>
      <p:regular r:id="rId19"/>
      <p:italic r:id="rId20"/>
    </p:embeddedFont>
    <p:embeddedFont>
      <p:font typeface="Prompt Medium" panose="00000600000000000000" pitchFamily="2" charset="-3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5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06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74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10" Type="http://schemas.openxmlformats.org/officeDocument/2006/relationships/image" Target="../media/image4.png"/><Relationship Id="rId4" Type="http://schemas.openxmlformats.org/officeDocument/2006/relationships/image" Target="../media/image18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ake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DDBE2CC4-4AD5-20B8-D33C-035FA8E7DB5D}"/>
              </a:ext>
            </a:extLst>
          </p:cNvPr>
          <p:cNvSpPr/>
          <p:nvPr/>
        </p:nvSpPr>
        <p:spPr>
          <a:xfrm>
            <a:off x="709493" y="2257063"/>
            <a:ext cx="6281615" cy="2178135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2422208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Career Compass 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3222069"/>
            <a:ext cx="7381875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AI-Based Career Guidance Platform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81063" y="4718328"/>
            <a:ext cx="73818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Presented by: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Tushar Thakur  |  </a:t>
            </a: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Course: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BCA  |  </a:t>
            </a: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Institution: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DAV College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81063" y="5404366"/>
            <a:ext cx="73818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Project Type: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Final Year Project  |  </a:t>
            </a: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Roll no: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8004</a:t>
            </a:r>
            <a:endParaRPr lang="en-US" sz="1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3AE7EA-3F4D-C772-7B64-FA1F60B40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735211"/>
            <a:ext cx="5314950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881063" y="1853922"/>
            <a:ext cx="12868275" cy="1119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Career Compass is a modern, web-based platform purpose-built to help students make well-informed, confident career decisions. Rather than relying on overloaded counsellors or one-size-fits-all advice, it delivers a personalized, data-driven experience tailored to each student's unique profile.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81063" y="3228856"/>
            <a:ext cx="4137898" cy="3025973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27760" y="3475553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5047" y="3672840"/>
            <a:ext cx="322778" cy="3227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760" y="4420195"/>
            <a:ext cx="294322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Personalised Guidance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127760" y="4888706"/>
            <a:ext cx="3644503" cy="1119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Career recommendations based on individual academic performance and personal interests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246132" y="3228856"/>
            <a:ext cx="4138017" cy="3025973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92829" y="3475553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0116" y="3672840"/>
            <a:ext cx="322778" cy="3227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2829" y="4420195"/>
            <a:ext cx="289941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Data-Driven Approach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492829" y="4888706"/>
            <a:ext cx="3644622" cy="1119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Structured analysis replaces guesswork with accurate, evidence-based suggestions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9611320" y="3228856"/>
            <a:ext cx="4137898" cy="3025973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858018" y="3475553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5304" y="3672840"/>
            <a:ext cx="322778" cy="3227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8018" y="4420195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Automated Process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858018" y="4888706"/>
            <a:ext cx="3644503" cy="1119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Eliminates dependency on manual counselling, saving time for students and institutions alike</a:t>
            </a:r>
            <a:endParaRPr lang="en-US" sz="1850" dirty="0"/>
          </a:p>
        </p:txBody>
      </p:sp>
      <p:sp>
        <p:nvSpPr>
          <p:cNvPr id="19" name="Shape 14"/>
          <p:cNvSpPr/>
          <p:nvPr/>
        </p:nvSpPr>
        <p:spPr>
          <a:xfrm>
            <a:off x="881063" y="6510338"/>
            <a:ext cx="12868275" cy="984052"/>
          </a:xfrm>
          <a:prstGeom prst="roundRect">
            <a:avLst>
              <a:gd name="adj" fmla="val 10208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" y="6851452"/>
            <a:ext cx="298966" cy="2390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58183" y="6797278"/>
            <a:ext cx="11852077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Goal:</a:t>
            </a:r>
            <a:r>
              <a:rPr lang="en-US" sz="18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simplify career decision-making using automation and technology.</a:t>
            </a:r>
            <a:endParaRPr lang="en-US" sz="1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CE7682-20BE-D5B8-210D-3AFA879A5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3B1F429E-FBBF-6117-DDF7-EB465BC4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6838" y="10001"/>
            <a:ext cx="183356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3426" y="609957"/>
            <a:ext cx="4720590" cy="590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43426" y="1468874"/>
            <a:ext cx="11680508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Students face multiple challenges when choosing careers: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590550" y="1983700"/>
            <a:ext cx="5886926" cy="5635823"/>
          </a:xfrm>
          <a:prstGeom prst="roundRect">
            <a:avLst>
              <a:gd name="adj" fmla="val 2714"/>
            </a:avLst>
          </a:prstGeom>
          <a:solidFill>
            <a:srgbClr val="A95B9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02958" y="2162889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Challenges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610" y="2665809"/>
            <a:ext cx="318611" cy="318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3282" y="2659380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 Clear Direction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493282" y="3133487"/>
            <a:ext cx="4771787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Students lack structured awareness of available career options and their own aptitude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610" y="4124801"/>
            <a:ext cx="318611" cy="3186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93282" y="4118372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Generic Advice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493282" y="4592479"/>
            <a:ext cx="4771787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Most guidance is broad and impersonal, failing to account for individual strengths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610" y="5583793"/>
            <a:ext cx="318611" cy="3186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93282" y="5577364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Limited Access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493282" y="6051471"/>
            <a:ext cx="4771787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Professional counsellors are scarce, expensive, or simply unavailable to many students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850380" y="2162889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Resulting Impact</a:t>
            </a:r>
            <a:endParaRPr lang="en-US" sz="1850" dirty="0"/>
          </a:p>
        </p:txBody>
      </p:sp>
      <p:sp>
        <p:nvSpPr>
          <p:cNvPr id="17" name="Shape 11"/>
          <p:cNvSpPr/>
          <p:nvPr/>
        </p:nvSpPr>
        <p:spPr>
          <a:xfrm>
            <a:off x="6850380" y="2659380"/>
            <a:ext cx="5581174" cy="1571149"/>
          </a:xfrm>
          <a:prstGeom prst="roundRect">
            <a:avLst>
              <a:gd name="adj" fmla="val 6984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6827520" y="2659380"/>
            <a:ext cx="91440" cy="1571149"/>
          </a:xfrm>
          <a:prstGeom prst="roundRect">
            <a:avLst>
              <a:gd name="adj" fmla="val 975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7154228" y="2894648"/>
            <a:ext cx="2620923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Wrong Career Choices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7154228" y="3368754"/>
            <a:ext cx="5042059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Students enter fields misaligned with their strengths and passion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6850380" y="4409718"/>
            <a:ext cx="5581174" cy="1257895"/>
          </a:xfrm>
          <a:prstGeom prst="roundRect">
            <a:avLst>
              <a:gd name="adj" fmla="val 8723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827520" y="4409718"/>
            <a:ext cx="91440" cy="1257895"/>
          </a:xfrm>
          <a:prstGeom prst="roundRect">
            <a:avLst>
              <a:gd name="adj" fmla="val 975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7154228" y="4644985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Lower Satisfaction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154228" y="5119092"/>
            <a:ext cx="504205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Mismatched careers lead to disengagement and burnout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6850380" y="5846802"/>
            <a:ext cx="5581174" cy="1571149"/>
          </a:xfrm>
          <a:prstGeom prst="roundRect">
            <a:avLst>
              <a:gd name="adj" fmla="val 6984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6827520" y="5846802"/>
            <a:ext cx="91440" cy="1571149"/>
          </a:xfrm>
          <a:prstGeom prst="roundRect">
            <a:avLst>
              <a:gd name="adj" fmla="val 975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7154228" y="6082070"/>
            <a:ext cx="249483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Reduced Productivity</a:t>
            </a:r>
            <a:endParaRPr lang="en-US" sz="1850" dirty="0"/>
          </a:p>
        </p:txBody>
      </p:sp>
      <p:sp>
        <p:nvSpPr>
          <p:cNvPr id="28" name="Text 22"/>
          <p:cNvSpPr/>
          <p:nvPr/>
        </p:nvSpPr>
        <p:spPr>
          <a:xfrm>
            <a:off x="7154228" y="6556177"/>
            <a:ext cx="5042059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Long-term professional performance suffers without a purposeful start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">
            <a:extLst>
              <a:ext uri="{FF2B5EF4-FFF2-40B4-BE49-F238E27FC236}">
                <a16:creationId xmlns:a16="http://schemas.microsoft.com/office/drawing/2014/main" id="{74E43F91-ADC8-FB71-BABF-D60623DDA3A2}"/>
              </a:ext>
            </a:extLst>
          </p:cNvPr>
          <p:cNvSpPr/>
          <p:nvPr/>
        </p:nvSpPr>
        <p:spPr>
          <a:xfrm>
            <a:off x="7406046" y="5258692"/>
            <a:ext cx="427910" cy="270570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3AD57AAB-8CE9-EC50-AA9A-C7CD58121D3F}"/>
              </a:ext>
            </a:extLst>
          </p:cNvPr>
          <p:cNvSpPr/>
          <p:nvPr/>
        </p:nvSpPr>
        <p:spPr>
          <a:xfrm>
            <a:off x="881064" y="5265334"/>
            <a:ext cx="427910" cy="270570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888B1236-4B48-331D-084B-0B487665AAF9}"/>
              </a:ext>
            </a:extLst>
          </p:cNvPr>
          <p:cNvSpPr/>
          <p:nvPr/>
        </p:nvSpPr>
        <p:spPr>
          <a:xfrm>
            <a:off x="9581079" y="3047456"/>
            <a:ext cx="427910" cy="270570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B43C748C-0494-6E4A-306C-119D726BCADF}"/>
              </a:ext>
            </a:extLst>
          </p:cNvPr>
          <p:cNvSpPr/>
          <p:nvPr/>
        </p:nvSpPr>
        <p:spPr>
          <a:xfrm>
            <a:off x="5231012" y="3070563"/>
            <a:ext cx="427910" cy="270570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5E3B8EF-FACF-028C-8410-C7E0A03C62DA}"/>
              </a:ext>
            </a:extLst>
          </p:cNvPr>
          <p:cNvSpPr/>
          <p:nvPr/>
        </p:nvSpPr>
        <p:spPr>
          <a:xfrm>
            <a:off x="881064" y="3070563"/>
            <a:ext cx="427910" cy="270570"/>
          </a:xfrm>
          <a:prstGeom prst="roundRect">
            <a:avLst>
              <a:gd name="adj" fmla="val 332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881063" y="1266706"/>
            <a:ext cx="5843349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Objectives of the Project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81063" y="2224802"/>
            <a:ext cx="12868275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Career Compass was designed with five clear, measurable objectives that together form a comprehensive solution to the career guidance gap faced by today's students.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81063" y="3062526"/>
            <a:ext cx="42791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81063" y="3395663"/>
            <a:ext cx="4168140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81063" y="3563541"/>
            <a:ext cx="367105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Personalized Recommendations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81063" y="3969782"/>
            <a:ext cx="4168140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Deliver tailored career suggestions based on each student's unique academic record and declared interests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31011" y="3062526"/>
            <a:ext cx="42791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31011" y="3395663"/>
            <a:ext cx="4168259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31011" y="3563541"/>
            <a:ext cx="355032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 Guidance Processes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231011" y="3969782"/>
            <a:ext cx="4168259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Replace time-consuming manual counselling with intelligent, automated workflows that respond instantly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81078" y="3062526"/>
            <a:ext cx="42791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581078" y="3395663"/>
            <a:ext cx="4168259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581078" y="3563541"/>
            <a:ext cx="312348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Efficient Data Management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581078" y="3969782"/>
            <a:ext cx="4168259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Store, retrieve, and manage student profiles and assessment data in an organized, accessible format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81063" y="5261848"/>
            <a:ext cx="42791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81063" y="5594985"/>
            <a:ext cx="6343174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81063" y="5762863"/>
            <a:ext cx="26797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Quick Decision-Making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81063" y="6169104"/>
            <a:ext cx="6343174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Ensure rapid, accurate output so students receive actionable guidance without delay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406045" y="5261848"/>
            <a:ext cx="42791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06045" y="5594985"/>
            <a:ext cx="6343293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06045" y="5762863"/>
            <a:ext cx="24916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Scalable Architecture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406045" y="6169104"/>
            <a:ext cx="6343293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Build a system flexible enough to accommodate future enhancements, additional features, and growing user bases</a:t>
            </a:r>
            <a:endParaRPr lang="en-US" sz="16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109E869-BF51-7058-7009-6347DFBB0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718780"/>
            <a:ext cx="391632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Overview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881063" y="1454944"/>
            <a:ext cx="12868275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Career Compass system is divided into three main components: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81063" y="1833205"/>
            <a:ext cx="4207193" cy="1412677"/>
          </a:xfrm>
          <a:prstGeom prst="roundRect">
            <a:avLst>
              <a:gd name="adj" fmla="val 524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4895" y="2017038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🖥️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4895" y="2343388"/>
            <a:ext cx="3839528" cy="71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intuitive web interface built with HTML, CSS, and JavaScript through which students register, log in, and complete their career assessments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1604" y="1833205"/>
            <a:ext cx="4207193" cy="1412677"/>
          </a:xfrm>
          <a:prstGeom prst="roundRect">
            <a:avLst>
              <a:gd name="adj" fmla="val 524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95436" y="2017038"/>
            <a:ext cx="232445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⚙️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Backend Automation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5436" y="2343388"/>
            <a:ext cx="3839528" cy="71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Make.com serves as the logic engine — receiving webhook data, applying conditional rules, and routing information intelligently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542145" y="1833205"/>
            <a:ext cx="4207193" cy="1412677"/>
          </a:xfrm>
          <a:prstGeom prst="roundRect">
            <a:avLst>
              <a:gd name="adj" fmla="val 524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725977" y="2017038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🗄️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25977" y="2343388"/>
            <a:ext cx="3839528" cy="71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Google Sheets acts as a cloud-based, real-time data store for user profiles, assessments, and generated career recommendations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1063" y="3430905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Working Flow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488" y="3860721"/>
            <a:ext cx="8719304" cy="327183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1827" y="4694116"/>
            <a:ext cx="450381" cy="4503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00565" y="6352364"/>
            <a:ext cx="1315113" cy="22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Google Sheets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3010" y="4694961"/>
            <a:ext cx="450381" cy="4503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3163" y="6352364"/>
            <a:ext cx="1315112" cy="22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Make.com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4614" y="4694961"/>
            <a:ext cx="450381" cy="4503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94767" y="6352364"/>
            <a:ext cx="1315113" cy="22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Webhook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6219" y="4694961"/>
            <a:ext cx="450382" cy="45038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46372" y="6352364"/>
            <a:ext cx="1315113" cy="22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Website</a:t>
            </a:r>
            <a:endParaRPr lang="en-US" sz="1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816" y="4694961"/>
            <a:ext cx="450381" cy="45038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361946" y="6352364"/>
            <a:ext cx="1315113" cy="22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81063" y="7271266"/>
            <a:ext cx="12868275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architecture ensures </a:t>
            </a: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processing and smooth user experience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3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94E81B-C292-8E5D-B62A-CDAD6F8FB8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904518"/>
            <a:ext cx="5314950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Technologies Used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881063" y="2023229"/>
            <a:ext cx="12868275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uses a combination of modern technologies: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063" y="2651879"/>
            <a:ext cx="597932" cy="5979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2958" y="2651879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HTML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762958" y="3120390"/>
            <a:ext cx="5410200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Structure and layout of web pages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7123" y="2651879"/>
            <a:ext cx="597932" cy="5979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9018" y="2651879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CSS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8339018" y="3120390"/>
            <a:ext cx="5410319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Styling and responsive design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063" y="3947874"/>
            <a:ext cx="597932" cy="5979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62958" y="3947874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JavaScript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762958" y="4416385"/>
            <a:ext cx="5410200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 validation and dynamic behaviour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7123" y="3947874"/>
            <a:ext cx="597932" cy="5979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39018" y="3947874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Make.com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8339018" y="4416385"/>
            <a:ext cx="5410319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Workflow automation and logic handling</a:t>
            </a:r>
            <a:endParaRPr lang="en-US" sz="1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063" y="5243870"/>
            <a:ext cx="597932" cy="5979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62958" y="5243870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Google Sheets</a:t>
            </a:r>
            <a:endParaRPr lang="en-US" sz="2050" dirty="0"/>
          </a:p>
        </p:txBody>
      </p:sp>
      <p:sp>
        <p:nvSpPr>
          <p:cNvPr id="18" name="Text 11"/>
          <p:cNvSpPr/>
          <p:nvPr/>
        </p:nvSpPr>
        <p:spPr>
          <a:xfrm>
            <a:off x="1762958" y="5712381"/>
            <a:ext cx="5410200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Cloud-based database</a:t>
            </a:r>
            <a:endParaRPr lang="en-US" sz="1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7123" y="5243870"/>
            <a:ext cx="597932" cy="5979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39018" y="5243870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Webhooks</a:t>
            </a:r>
            <a:endParaRPr lang="en-US" sz="2050" dirty="0"/>
          </a:p>
        </p:txBody>
      </p:sp>
      <p:sp>
        <p:nvSpPr>
          <p:cNvPr id="21" name="Text 13"/>
          <p:cNvSpPr/>
          <p:nvPr/>
        </p:nvSpPr>
        <p:spPr>
          <a:xfrm>
            <a:off x="8339018" y="5712381"/>
            <a:ext cx="5410319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Communication between frontend and backend</a:t>
            </a:r>
            <a:endParaRPr lang="en-US" sz="1850" dirty="0"/>
          </a:p>
        </p:txBody>
      </p:sp>
      <p:sp>
        <p:nvSpPr>
          <p:cNvPr id="22" name="Shape 14"/>
          <p:cNvSpPr/>
          <p:nvPr/>
        </p:nvSpPr>
        <p:spPr>
          <a:xfrm>
            <a:off x="881063" y="6341031"/>
            <a:ext cx="12868275" cy="984052"/>
          </a:xfrm>
          <a:prstGeom prst="roundRect">
            <a:avLst>
              <a:gd name="adj" fmla="val 10208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" y="6682145"/>
            <a:ext cx="298966" cy="23907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658183" y="6627971"/>
            <a:ext cx="11852077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Advantage:</a:t>
            </a:r>
            <a:r>
              <a:rPr lang="en-US" sz="18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Lightweight, scalable, and easy to maintain system.</a:t>
            </a:r>
            <a:endParaRPr lang="en-US" sz="1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8B6C630-0A5B-388B-20B7-34DD761860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18">
            <a:extLst>
              <a:ext uri="{FF2B5EF4-FFF2-40B4-BE49-F238E27FC236}">
                <a16:creationId xmlns:a16="http://schemas.microsoft.com/office/drawing/2014/main" id="{253FD036-AA35-D01F-0D94-FF4481BF5A38}"/>
              </a:ext>
            </a:extLst>
          </p:cNvPr>
          <p:cNvSpPr/>
          <p:nvPr/>
        </p:nvSpPr>
        <p:spPr>
          <a:xfrm>
            <a:off x="743426" y="2024676"/>
            <a:ext cx="4650377" cy="4522554"/>
          </a:xfrm>
          <a:prstGeom prst="roundRect">
            <a:avLst>
              <a:gd name="adj" fmla="val 2514"/>
            </a:avLst>
          </a:prstGeom>
          <a:solidFill>
            <a:srgbClr val="A95B9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C1DE757-6D81-CDC8-DA32-44AAFED55E5D}"/>
              </a:ext>
            </a:extLst>
          </p:cNvPr>
          <p:cNvSpPr/>
          <p:nvPr/>
        </p:nvSpPr>
        <p:spPr>
          <a:xfrm>
            <a:off x="743426" y="7089815"/>
            <a:ext cx="13143548" cy="518874"/>
          </a:xfrm>
          <a:prstGeom prst="roundRect">
            <a:avLst>
              <a:gd name="adj" fmla="val 12896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881063" y="895588"/>
            <a:ext cx="3636526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Architecture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881063" y="1562695"/>
            <a:ext cx="12868275" cy="431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Career Compass follows a client-server-style architecture implemented entirely through modern automation tools — eliminating the need for a traditional dedicated server. Each layer communicates seamlessly to deliver a reliable, end-to-end experience.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81063" y="7133672"/>
            <a:ext cx="12868275" cy="431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travels through each layer sequentially: user input is captured on the frontend, transmitted via webhook, processed by the Make.com automation engine, stored in Google Sheets, and the resulting career recommendation is returned to the user — all within seconds.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FE53C0-7602-1FC4-535A-D36A04724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1AC85F-3CA6-3579-DE52-1E5DEBB5D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311" y="2547898"/>
            <a:ext cx="8468027" cy="3800792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D15D82E9-D15F-9FEB-2A57-DDEF401BB631}"/>
              </a:ext>
            </a:extLst>
          </p:cNvPr>
          <p:cNvSpPr/>
          <p:nvPr/>
        </p:nvSpPr>
        <p:spPr>
          <a:xfrm>
            <a:off x="905201" y="2102041"/>
            <a:ext cx="237767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Flow</a:t>
            </a:r>
            <a:endParaRPr lang="en-US" sz="1850" dirty="0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3F013D27-2622-346D-ECD2-B31179A67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01" y="2603770"/>
            <a:ext cx="1069896" cy="1283970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6F744272-1613-D6FC-B974-FC89A1F39BC9}"/>
              </a:ext>
            </a:extLst>
          </p:cNvPr>
          <p:cNvSpPr/>
          <p:nvPr/>
        </p:nvSpPr>
        <p:spPr>
          <a:xfrm>
            <a:off x="2156905" y="2817725"/>
            <a:ext cx="237767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Input</a:t>
            </a:r>
            <a:endParaRPr lang="en-US" sz="185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67DE147A-5BF7-D118-5C91-C43727EB60B2}"/>
              </a:ext>
            </a:extLst>
          </p:cNvPr>
          <p:cNvSpPr/>
          <p:nvPr/>
        </p:nvSpPr>
        <p:spPr>
          <a:xfrm>
            <a:off x="2156905" y="3296714"/>
            <a:ext cx="4921448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Web Interface</a:t>
            </a:r>
            <a:endParaRPr lang="en-US" sz="1650" dirty="0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8533DB67-679D-2FAB-EAB4-0E6C2E5C9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01" y="3887740"/>
            <a:ext cx="1069896" cy="1283970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929119D5-C696-67C7-CC3C-30994136E783}"/>
              </a:ext>
            </a:extLst>
          </p:cNvPr>
          <p:cNvSpPr/>
          <p:nvPr/>
        </p:nvSpPr>
        <p:spPr>
          <a:xfrm>
            <a:off x="2156905" y="4101695"/>
            <a:ext cx="237767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Webhook</a:t>
            </a:r>
            <a:endParaRPr lang="en-US" sz="185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CEED8E64-6391-D30F-2033-27A38AB50319}"/>
              </a:ext>
            </a:extLst>
          </p:cNvPr>
          <p:cNvSpPr/>
          <p:nvPr/>
        </p:nvSpPr>
        <p:spPr>
          <a:xfrm>
            <a:off x="2156905" y="4580684"/>
            <a:ext cx="4921448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Automation</a:t>
            </a:r>
            <a:endParaRPr lang="en-US" sz="1650" dirty="0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6E02F243-B200-DDF0-F761-2FE7877FE5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01" y="5171710"/>
            <a:ext cx="1069896" cy="1283970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47408A36-9E8E-A9EF-4FFE-6EF0F9FFD77D}"/>
              </a:ext>
            </a:extLst>
          </p:cNvPr>
          <p:cNvSpPr/>
          <p:nvPr/>
        </p:nvSpPr>
        <p:spPr>
          <a:xfrm>
            <a:off x="2156905" y="5385665"/>
            <a:ext cx="237767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</a:t>
            </a:r>
            <a:endParaRPr lang="en-US" sz="18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81BC4A9-ACE3-9259-DEB1-A7899E4CA21A}"/>
              </a:ext>
            </a:extLst>
          </p:cNvPr>
          <p:cNvSpPr/>
          <p:nvPr/>
        </p:nvSpPr>
        <p:spPr>
          <a:xfrm>
            <a:off x="2156905" y="5864654"/>
            <a:ext cx="4921448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Output</a:t>
            </a:r>
            <a:endParaRPr lang="en-US" sz="165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8D87A5C8-C08B-7657-EA70-0C99CBD83299}"/>
              </a:ext>
            </a:extLst>
          </p:cNvPr>
          <p:cNvSpPr/>
          <p:nvPr/>
        </p:nvSpPr>
        <p:spPr>
          <a:xfrm>
            <a:off x="905201" y="6660229"/>
            <a:ext cx="6173153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ensures </a:t>
            </a:r>
            <a:r>
              <a:rPr lang="en-US" sz="16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efficient and organised data processing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26" y="620911"/>
            <a:ext cx="4119205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Workflow of the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43426" y="1265039"/>
            <a:ext cx="13143548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Career Compass workflow is designed to be intuitive for the student while sophisticated under the hood. From first login to final recommendation, every step is automated, validated, and logged — ensuring consistency and accuracy throughout.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02732" y="2033349"/>
            <a:ext cx="159306" cy="716756"/>
          </a:xfrm>
          <a:prstGeom prst="roundRect">
            <a:avLst>
              <a:gd name="adj" fmla="val 4200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3426" y="1928813"/>
            <a:ext cx="477917" cy="477917"/>
          </a:xfrm>
          <a:prstGeom prst="roundRect">
            <a:avLst>
              <a:gd name="adj" fmla="val 956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846" y="2048232"/>
            <a:ext cx="238958" cy="2389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2070" y="1953697"/>
            <a:ext cx="177022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Registration &amp; Login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2070" y="2235398"/>
            <a:ext cx="1256490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 creates an account or logs in with existing credentials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41690" y="3089910"/>
            <a:ext cx="159306" cy="716756"/>
          </a:xfrm>
          <a:prstGeom prst="roundRect">
            <a:avLst>
              <a:gd name="adj" fmla="val 4200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82385" y="2985373"/>
            <a:ext cx="477917" cy="477917"/>
          </a:xfrm>
          <a:prstGeom prst="roundRect">
            <a:avLst>
              <a:gd name="adj" fmla="val 956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804" y="3104793"/>
            <a:ext cx="238958" cy="2389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61028" y="3010257"/>
            <a:ext cx="1810226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Credential Validation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561028" y="3291959"/>
            <a:ext cx="12325945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System verifies user identity before granting access to assessment tools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380649" y="4146471"/>
            <a:ext cx="159306" cy="716756"/>
          </a:xfrm>
          <a:prstGeom prst="roundRect">
            <a:avLst>
              <a:gd name="adj" fmla="val 4200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221343" y="4041934"/>
            <a:ext cx="477917" cy="477917"/>
          </a:xfrm>
          <a:prstGeom prst="roundRect">
            <a:avLst>
              <a:gd name="adj" fmla="val 956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0763" y="4161353"/>
            <a:ext cx="238958" cy="2389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99987" y="4066818"/>
            <a:ext cx="207668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Assessment Completion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799987" y="4348520"/>
            <a:ext cx="1208698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 completes a structured questionnaire covering academic scores and personal interests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619607" y="5203031"/>
            <a:ext cx="159306" cy="716756"/>
          </a:xfrm>
          <a:prstGeom prst="roundRect">
            <a:avLst>
              <a:gd name="adj" fmla="val 4200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460302" y="5098494"/>
            <a:ext cx="477917" cy="477917"/>
          </a:xfrm>
          <a:prstGeom prst="roundRect">
            <a:avLst>
              <a:gd name="adj" fmla="val 956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9721" y="5217914"/>
            <a:ext cx="238958" cy="2389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38945" y="5123378"/>
            <a:ext cx="177022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Transmission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038945" y="5405080"/>
            <a:ext cx="11848028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Responses are sent securely to the backend via a configured webhook endpoint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380649" y="6259592"/>
            <a:ext cx="159306" cy="716756"/>
          </a:xfrm>
          <a:prstGeom prst="roundRect">
            <a:avLst>
              <a:gd name="adj" fmla="val 4200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221343" y="6155055"/>
            <a:ext cx="477917" cy="477917"/>
          </a:xfrm>
          <a:prstGeom prst="roundRect">
            <a:avLst>
              <a:gd name="adj" fmla="val 956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0763" y="6274475"/>
            <a:ext cx="238958" cy="2389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99987" y="6179939"/>
            <a:ext cx="2697956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Processing &amp; Recommendation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799987" y="6461641"/>
            <a:ext cx="1208698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Make.com applies logic, generates a tailored career recommendation, and returns it to the user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43426" y="7089815"/>
            <a:ext cx="13143548" cy="518874"/>
          </a:xfrm>
          <a:prstGeom prst="roundRect">
            <a:avLst>
              <a:gd name="adj" fmla="val 12896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732" y="7301865"/>
            <a:ext cx="199072" cy="1593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61110" y="7230308"/>
            <a:ext cx="12466558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Result:</a:t>
            </a:r>
            <a:r>
              <a:rPr lang="en-US" sz="12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 smooth and automated user journey from input to output.</a:t>
            </a:r>
            <a:endParaRPr lang="en-US" sz="12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FA257B0-7D9D-133F-87E7-037EC80017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041916"/>
            <a:ext cx="5838468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Automation Using </a:t>
            </a:r>
            <a:r>
              <a:rPr lang="en-US" sz="3300" u="sng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Make.com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81063" y="1906191"/>
            <a:ext cx="6203871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Make.com serves as the entire backend engine of Career Compass — a powerful no-code automation platform that replaces traditional server-side programming. It listens for incoming data, applies business logic, and coordinates all responses without a single line of backend code.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81063" y="3122771"/>
            <a:ext cx="3031093" cy="1882021"/>
          </a:xfrm>
          <a:prstGeom prst="roundRect">
            <a:avLst>
              <a:gd name="adj" fmla="val 5830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8203" y="3122771"/>
            <a:ext cx="91440" cy="1882021"/>
          </a:xfrm>
          <a:prstGeom prst="roundRect">
            <a:avLst>
              <a:gd name="adj" fmla="val 8673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61217" y="3334345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Webhook Reception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61217" y="3738086"/>
            <a:ext cx="2539365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Instantly receives and parses student form data from the frontend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053721" y="3122771"/>
            <a:ext cx="3031212" cy="1882021"/>
          </a:xfrm>
          <a:prstGeom prst="roundRect">
            <a:avLst>
              <a:gd name="adj" fmla="val 5830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30861" y="3122771"/>
            <a:ext cx="91440" cy="1882021"/>
          </a:xfrm>
          <a:prstGeom prst="roundRect">
            <a:avLst>
              <a:gd name="adj" fmla="val 8673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33875" y="3334345"/>
            <a:ext cx="2539484" cy="52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Router &amp; Multi-Flow Handling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33875" y="4000262"/>
            <a:ext cx="2539484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Directs data through different logic paths based on student inputs and scenarios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81063" y="5146357"/>
            <a:ext cx="3031093" cy="1882021"/>
          </a:xfrm>
          <a:prstGeom prst="roundRect">
            <a:avLst>
              <a:gd name="adj" fmla="val 5830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58203" y="5146357"/>
            <a:ext cx="91440" cy="1882021"/>
          </a:xfrm>
          <a:prstGeom prst="roundRect">
            <a:avLst>
              <a:gd name="adj" fmla="val 8673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61217" y="5357932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Conditional Logic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61217" y="5761673"/>
            <a:ext cx="2539365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Validates inputs and applies rules to determine the most appropriate career output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053721" y="5146357"/>
            <a:ext cx="3031212" cy="1882021"/>
          </a:xfrm>
          <a:prstGeom prst="roundRect">
            <a:avLst>
              <a:gd name="adj" fmla="val 5830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30861" y="5146357"/>
            <a:ext cx="91440" cy="1882021"/>
          </a:xfrm>
          <a:prstGeom prst="roundRect">
            <a:avLst>
              <a:gd name="adj" fmla="val 8673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33875" y="5357932"/>
            <a:ext cx="2539484" cy="52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 Write &amp; Response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333875" y="6023848"/>
            <a:ext cx="2539484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Writes results to Google Sheets and returns the final recommendation to the student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417118" y="1778794"/>
            <a:ext cx="6475809" cy="5408890"/>
          </a:xfrm>
          <a:prstGeom prst="roundRect">
            <a:avLst>
              <a:gd name="adj" fmla="val 2514"/>
            </a:avLst>
          </a:prstGeom>
          <a:solidFill>
            <a:srgbClr val="A95B9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05832" y="1920359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Benefit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605832" y="2324100"/>
            <a:ext cx="6098381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By leveraging Make.com, the project eliminates the need for traditional backend development — no Node.js, no PHP, no server management. This dramatically reduces complexity, accelerates development time, and lowers hosting costs while maintaining full automation capability.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605832" y="3540681"/>
            <a:ext cx="6098381" cy="939046"/>
          </a:xfrm>
          <a:prstGeom prst="roundRect">
            <a:avLst>
              <a:gd name="adj" fmla="val 8445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546" y="3794284"/>
            <a:ext cx="235982" cy="1887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19242" y="3729395"/>
            <a:ext cx="5296257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backend coding required — Make.com handles all logic, routing, and data management out of the box</a:t>
            </a:r>
            <a:endParaRPr lang="en-US" sz="14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F57BA15-F2D3-BA45-8064-12260972B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741" y="701516"/>
            <a:ext cx="4235410" cy="52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Management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84741" y="1519357"/>
            <a:ext cx="13060918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Google Sheets serves as the cloud-native database powering Career Compass. Its simplicity, real-time sync capabilities, and zero-cost deployment make it an ideal choice for an academic project that demands reliability without infrastructure overhead.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4741" y="2361605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Gets Stored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4741" y="2788563"/>
            <a:ext cx="3076932" cy="1340882"/>
          </a:xfrm>
          <a:prstGeom prst="roundRect">
            <a:avLst>
              <a:gd name="adj" fmla="val 59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82861" y="2986683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Profiles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82861" y="3395543"/>
            <a:ext cx="2680692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Registration details and account information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05858" y="2788563"/>
            <a:ext cx="3076932" cy="1340882"/>
          </a:xfrm>
          <a:prstGeom prst="roundRect">
            <a:avLst>
              <a:gd name="adj" fmla="val 59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03978" y="2986683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Login Records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203978" y="3395543"/>
            <a:ext cx="2680692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Securely logged credential and session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4741" y="4273629"/>
            <a:ext cx="3076932" cy="1340882"/>
          </a:xfrm>
          <a:prstGeom prst="roundRect">
            <a:avLst>
              <a:gd name="adj" fmla="val 59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2861" y="4471749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Assessment Scores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2861" y="4880610"/>
            <a:ext cx="2680692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Academic performance and interest evaluation results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05858" y="4273629"/>
            <a:ext cx="3076932" cy="1340882"/>
          </a:xfrm>
          <a:prstGeom prst="roundRect">
            <a:avLst>
              <a:gd name="adj" fmla="val 59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03978" y="4471749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Recommendations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203978" y="4880610"/>
            <a:ext cx="2680692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Generated career paths and guidance outputs per user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55230" y="2361605"/>
            <a:ext cx="2141934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Google Sheets?</a:t>
            </a:r>
            <a:endParaRPr lang="en-US" sz="16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5230" y="2788563"/>
            <a:ext cx="476369" cy="47636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55230" y="3445193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Updates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555230" y="3854053"/>
            <a:ext cx="6298049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is written and read instantly with no delays or caching issues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5230" y="4410432"/>
            <a:ext cx="476369" cy="47636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55230" y="5067062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Anywhere Access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7555230" y="5475923"/>
            <a:ext cx="6298049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Accessible from any device or location with a Google account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5230" y="6032302"/>
            <a:ext cx="476369" cy="47636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555230" y="6688931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Cost-Effective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7555230" y="7097792"/>
            <a:ext cx="6298049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Free to use with no database hosting or maintenance fees</a:t>
            </a:r>
            <a:endParaRPr lang="en-US" sz="15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7BCCF9E-D0EB-F1E9-AB9B-795DB24AD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78C2F6-3438-C258-49EC-253CCB0485E5}"/>
              </a:ext>
            </a:extLst>
          </p:cNvPr>
          <p:cNvSpPr/>
          <p:nvPr/>
        </p:nvSpPr>
        <p:spPr>
          <a:xfrm>
            <a:off x="881063" y="694015"/>
            <a:ext cx="9153406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 of the Career Guidance System</a:t>
            </a:r>
            <a:endParaRPr lang="en-US" sz="3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23109F-4C09-0FFE-5202-4C2E5F5C8065}"/>
              </a:ext>
            </a:extLst>
          </p:cNvPr>
          <p:cNvSpPr/>
          <p:nvPr/>
        </p:nvSpPr>
        <p:spPr>
          <a:xfrm>
            <a:off x="881063" y="1532334"/>
            <a:ext cx="12868275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robust, full-stack solution built to streamline career decision-making for students through intelligent automation, intuitive design, and enterprise-grade reliability.</a:t>
            </a:r>
            <a:endParaRPr lang="en-US" sz="1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6F86A5-1AC4-7F2C-23C3-0EE2D4E8DBAD}"/>
              </a:ext>
            </a:extLst>
          </p:cNvPr>
          <p:cNvSpPr/>
          <p:nvPr/>
        </p:nvSpPr>
        <p:spPr>
          <a:xfrm>
            <a:off x="881063" y="1988463"/>
            <a:ext cx="6354604" cy="1742956"/>
          </a:xfrm>
          <a:prstGeom prst="roundRect">
            <a:avLst>
              <a:gd name="adj" fmla="val 45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3FB8E2-3AA9-5434-C6A7-6A31B470357B}"/>
              </a:ext>
            </a:extLst>
          </p:cNvPr>
          <p:cNvSpPr/>
          <p:nvPr/>
        </p:nvSpPr>
        <p:spPr>
          <a:xfrm>
            <a:off x="1075849" y="2183249"/>
            <a:ext cx="561737" cy="561737"/>
          </a:xfrm>
          <a:prstGeom prst="roundRect">
            <a:avLst>
              <a:gd name="adj" fmla="val 16276453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29BC56F-B983-FB7F-8A21-C563B2F84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0273" y="2337673"/>
            <a:ext cx="252770" cy="25277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F0966EA-7938-90A0-C869-52F0E88F5AE8}"/>
              </a:ext>
            </a:extLst>
          </p:cNvPr>
          <p:cNvSpPr/>
          <p:nvPr/>
        </p:nvSpPr>
        <p:spPr>
          <a:xfrm>
            <a:off x="1075849" y="2904053"/>
            <a:ext cx="3065621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Automated Recommendations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BC5CECF-4706-13D8-DEE9-4EA75DF9F146}"/>
              </a:ext>
            </a:extLst>
          </p:cNvPr>
          <p:cNvSpPr/>
          <p:nvPr/>
        </p:nvSpPr>
        <p:spPr>
          <a:xfrm>
            <a:off x="1075849" y="3259455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AI-driven career suggestions tailored to each student's academic profile</a:t>
            </a:r>
            <a:endParaRPr lang="en-US" sz="14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9BDC65A-20F0-CEEF-A3AA-EC6D8067150D}"/>
              </a:ext>
            </a:extLst>
          </p:cNvPr>
          <p:cNvSpPr/>
          <p:nvPr/>
        </p:nvSpPr>
        <p:spPr>
          <a:xfrm>
            <a:off x="7394734" y="1988463"/>
            <a:ext cx="6354604" cy="1742956"/>
          </a:xfrm>
          <a:prstGeom prst="roundRect">
            <a:avLst>
              <a:gd name="adj" fmla="val 45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75B6145-540E-C7B8-1F98-92EA33C57AF2}"/>
              </a:ext>
            </a:extLst>
          </p:cNvPr>
          <p:cNvSpPr/>
          <p:nvPr/>
        </p:nvSpPr>
        <p:spPr>
          <a:xfrm>
            <a:off x="7589520" y="2183249"/>
            <a:ext cx="561737" cy="561737"/>
          </a:xfrm>
          <a:prstGeom prst="roundRect">
            <a:avLst>
              <a:gd name="adj" fmla="val 16276453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E81AD74-30AE-FD23-F249-72C552605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3944" y="2337673"/>
            <a:ext cx="252770" cy="25277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9EB0B2C6-EDFB-204F-7103-8B88A2705E0F}"/>
              </a:ext>
            </a:extLst>
          </p:cNvPr>
          <p:cNvSpPr/>
          <p:nvPr/>
        </p:nvSpPr>
        <p:spPr>
          <a:xfrm>
            <a:off x="7589520" y="2904053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Student Interface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2A935E9-86EC-6C5B-51A3-D55D61E5CE18}"/>
              </a:ext>
            </a:extLst>
          </p:cNvPr>
          <p:cNvSpPr/>
          <p:nvPr/>
        </p:nvSpPr>
        <p:spPr>
          <a:xfrm>
            <a:off x="7589520" y="3259455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Clean, intuitive UI designed for ease of use without technical knowledge</a:t>
            </a:r>
            <a:endParaRPr lang="en-US" sz="14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175B612-CC7C-9971-285F-31D81E1686AD}"/>
              </a:ext>
            </a:extLst>
          </p:cNvPr>
          <p:cNvSpPr/>
          <p:nvPr/>
        </p:nvSpPr>
        <p:spPr>
          <a:xfrm>
            <a:off x="881063" y="3890486"/>
            <a:ext cx="6354604" cy="1742956"/>
          </a:xfrm>
          <a:prstGeom prst="roundRect">
            <a:avLst>
              <a:gd name="adj" fmla="val 45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391576F-DF82-14F3-8F28-E5D032FF786A}"/>
              </a:ext>
            </a:extLst>
          </p:cNvPr>
          <p:cNvSpPr/>
          <p:nvPr/>
        </p:nvSpPr>
        <p:spPr>
          <a:xfrm>
            <a:off x="1075849" y="4085273"/>
            <a:ext cx="561737" cy="561737"/>
          </a:xfrm>
          <a:prstGeom prst="roundRect">
            <a:avLst>
              <a:gd name="adj" fmla="val 16276453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E4B99216-37B7-2666-BF50-59B324B30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273" y="4239697"/>
            <a:ext cx="252770" cy="25277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1D77C3DE-85F2-D8E7-B438-1DC3CC5BA38D}"/>
              </a:ext>
            </a:extLst>
          </p:cNvPr>
          <p:cNvSpPr/>
          <p:nvPr/>
        </p:nvSpPr>
        <p:spPr>
          <a:xfrm>
            <a:off x="1075849" y="4806077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A4269B5-79BB-2099-53D6-ACECC26226EB}"/>
              </a:ext>
            </a:extLst>
          </p:cNvPr>
          <p:cNvSpPr/>
          <p:nvPr/>
        </p:nvSpPr>
        <p:spPr>
          <a:xfrm>
            <a:off x="1075849" y="5161478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Centralised dashboard for data oversight, management, and configuration</a:t>
            </a:r>
            <a:endParaRPr lang="en-US" sz="14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B699C90-BA08-F283-494A-AA5B50C78DE2}"/>
              </a:ext>
            </a:extLst>
          </p:cNvPr>
          <p:cNvSpPr/>
          <p:nvPr/>
        </p:nvSpPr>
        <p:spPr>
          <a:xfrm>
            <a:off x="7394734" y="3890486"/>
            <a:ext cx="6354604" cy="1742956"/>
          </a:xfrm>
          <a:prstGeom prst="roundRect">
            <a:avLst>
              <a:gd name="adj" fmla="val 45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D9F61DB1-FF4F-29CD-39D9-571F5E651228}"/>
              </a:ext>
            </a:extLst>
          </p:cNvPr>
          <p:cNvSpPr/>
          <p:nvPr/>
        </p:nvSpPr>
        <p:spPr>
          <a:xfrm>
            <a:off x="7589520" y="4085273"/>
            <a:ext cx="561737" cy="561737"/>
          </a:xfrm>
          <a:prstGeom prst="roundRect">
            <a:avLst>
              <a:gd name="adj" fmla="val 16276453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D20EB57D-C857-A99D-8FFB-5F30EEA40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3944" y="4239697"/>
            <a:ext cx="252770" cy="252770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E8E123D5-7DB0-0719-6201-0842CF3EA0AF}"/>
              </a:ext>
            </a:extLst>
          </p:cNvPr>
          <p:cNvSpPr/>
          <p:nvPr/>
        </p:nvSpPr>
        <p:spPr>
          <a:xfrm>
            <a:off x="7589520" y="4806077"/>
            <a:ext cx="2164675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7125244-6E7C-B611-867C-86C744B94240}"/>
              </a:ext>
            </a:extLst>
          </p:cNvPr>
          <p:cNvSpPr/>
          <p:nvPr/>
        </p:nvSpPr>
        <p:spPr>
          <a:xfrm>
            <a:off x="7589520" y="5161478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data handling ensures instant, accurate career output for every query</a:t>
            </a:r>
            <a:endParaRPr lang="en-US" sz="14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4F08D8F-2349-7386-B1DF-F5CE1049C1DD}"/>
              </a:ext>
            </a:extLst>
          </p:cNvPr>
          <p:cNvSpPr/>
          <p:nvPr/>
        </p:nvSpPr>
        <p:spPr>
          <a:xfrm>
            <a:off x="881063" y="5792510"/>
            <a:ext cx="6354604" cy="1742956"/>
          </a:xfrm>
          <a:prstGeom prst="roundRect">
            <a:avLst>
              <a:gd name="adj" fmla="val 45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8C84AED6-5800-E4EF-5FD1-BEF8F11442E9}"/>
              </a:ext>
            </a:extLst>
          </p:cNvPr>
          <p:cNvSpPr/>
          <p:nvPr/>
        </p:nvSpPr>
        <p:spPr>
          <a:xfrm>
            <a:off x="1075849" y="5987296"/>
            <a:ext cx="561737" cy="561737"/>
          </a:xfrm>
          <a:prstGeom prst="roundRect">
            <a:avLst>
              <a:gd name="adj" fmla="val 16276453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6C6BA35D-E1B2-ADCC-29C0-C2E559556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0273" y="6141720"/>
            <a:ext cx="252770" cy="25277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C26DB959-E7BC-DF57-4826-47638B81C091}"/>
              </a:ext>
            </a:extLst>
          </p:cNvPr>
          <p:cNvSpPr/>
          <p:nvPr/>
        </p:nvSpPr>
        <p:spPr>
          <a:xfrm>
            <a:off x="1075849" y="6708100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2097055-825C-1B64-E7C8-2B05D67A3CB7}"/>
              </a:ext>
            </a:extLst>
          </p:cNvPr>
          <p:cNvSpPr/>
          <p:nvPr/>
        </p:nvSpPr>
        <p:spPr>
          <a:xfrm>
            <a:off x="1075849" y="7063502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Validated authentication protects student data and system integrity</a:t>
            </a:r>
            <a:endParaRPr lang="en-US" sz="14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823FA155-C3D4-FA78-51B4-270069547301}"/>
              </a:ext>
            </a:extLst>
          </p:cNvPr>
          <p:cNvSpPr/>
          <p:nvPr/>
        </p:nvSpPr>
        <p:spPr>
          <a:xfrm>
            <a:off x="7394734" y="5792510"/>
            <a:ext cx="6354604" cy="1742956"/>
          </a:xfrm>
          <a:prstGeom prst="roundRect">
            <a:avLst>
              <a:gd name="adj" fmla="val 45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4005FE3F-FD8E-DA89-067A-13B1014A5E7C}"/>
              </a:ext>
            </a:extLst>
          </p:cNvPr>
          <p:cNvSpPr/>
          <p:nvPr/>
        </p:nvSpPr>
        <p:spPr>
          <a:xfrm>
            <a:off x="7589520" y="5987296"/>
            <a:ext cx="561737" cy="561737"/>
          </a:xfrm>
          <a:prstGeom prst="roundRect">
            <a:avLst>
              <a:gd name="adj" fmla="val 16276453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EE288E4E-147D-D34D-34E2-4A73F38BC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3944" y="6141720"/>
            <a:ext cx="252770" cy="252770"/>
          </a:xfrm>
          <a:prstGeom prst="rect">
            <a:avLst/>
          </a:prstGeom>
        </p:spPr>
      </p:pic>
      <p:sp>
        <p:nvSpPr>
          <p:cNvPr id="32" name="Text 24">
            <a:extLst>
              <a:ext uri="{FF2B5EF4-FFF2-40B4-BE49-F238E27FC236}">
                <a16:creationId xmlns:a16="http://schemas.microsoft.com/office/drawing/2014/main" id="{412FC227-E22D-2D5E-E136-9ECE44A88AF1}"/>
              </a:ext>
            </a:extLst>
          </p:cNvPr>
          <p:cNvSpPr/>
          <p:nvPr/>
        </p:nvSpPr>
        <p:spPr>
          <a:xfrm>
            <a:off x="7589520" y="6708100"/>
            <a:ext cx="2180749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79C410DA-DB56-9BCD-D496-6168F1D6B716}"/>
              </a:ext>
            </a:extLst>
          </p:cNvPr>
          <p:cNvSpPr/>
          <p:nvPr/>
        </p:nvSpPr>
        <p:spPr>
          <a:xfrm>
            <a:off x="7589520" y="7063502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Flexible system design supports future growth and feature expansion</a:t>
            </a:r>
            <a:endParaRPr lang="en-US" sz="14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72DD179-ADFA-59E1-B15E-B9135FEB0E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53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4BC20B-20A6-1313-CA89-39A6848D9620}"/>
              </a:ext>
            </a:extLst>
          </p:cNvPr>
          <p:cNvSpPr/>
          <p:nvPr/>
        </p:nvSpPr>
        <p:spPr>
          <a:xfrm>
            <a:off x="867370" y="634484"/>
            <a:ext cx="5990153" cy="54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Testing &amp; Quality Assurance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7C17BF-7969-A335-9CCA-895D0E86B902}"/>
              </a:ext>
            </a:extLst>
          </p:cNvPr>
          <p:cNvSpPr/>
          <p:nvPr/>
        </p:nvSpPr>
        <p:spPr>
          <a:xfrm>
            <a:off x="867370" y="1522333"/>
            <a:ext cx="12895659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Rigorous testing was conducted across all system layers to validate reliability, data accuracy, and end-to-end workflow integrity before deployment.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B1012A-50A2-7C7E-FCAF-73EBFB5E216E}"/>
              </a:ext>
            </a:extLst>
          </p:cNvPr>
          <p:cNvSpPr/>
          <p:nvPr/>
        </p:nvSpPr>
        <p:spPr>
          <a:xfrm>
            <a:off x="726877" y="2011085"/>
            <a:ext cx="6490811" cy="5584031"/>
          </a:xfrm>
          <a:prstGeom prst="roundRect">
            <a:avLst>
              <a:gd name="adj" fmla="val 2516"/>
            </a:avLst>
          </a:prstGeom>
          <a:solidFill>
            <a:srgbClr val="A95B9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4E32DF-9165-07AE-22CA-0148BCD8DC9C}"/>
              </a:ext>
            </a:extLst>
          </p:cNvPr>
          <p:cNvSpPr/>
          <p:nvPr/>
        </p:nvSpPr>
        <p:spPr>
          <a:xfrm>
            <a:off x="922020" y="2183963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Testing Methods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E3F89F-6E26-6A88-C81C-D1780C53DE4B}"/>
              </a:ext>
            </a:extLst>
          </p:cNvPr>
          <p:cNvSpPr/>
          <p:nvPr/>
        </p:nvSpPr>
        <p:spPr>
          <a:xfrm>
            <a:off x="922020" y="2649379"/>
            <a:ext cx="439103" cy="439102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8119E3-AD8F-B9EB-C6D3-7FB4FE81101F}"/>
              </a:ext>
            </a:extLst>
          </p:cNvPr>
          <p:cNvSpPr/>
          <p:nvPr/>
        </p:nvSpPr>
        <p:spPr>
          <a:xfrm>
            <a:off x="1011495" y="2706291"/>
            <a:ext cx="260152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BED298-4854-6E74-CE67-C44672701835}"/>
              </a:ext>
            </a:extLst>
          </p:cNvPr>
          <p:cNvSpPr/>
          <p:nvPr/>
        </p:nvSpPr>
        <p:spPr>
          <a:xfrm>
            <a:off x="1534001" y="2716411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Unit Testing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61959A-6A74-8999-3E40-15D89912B5B0}"/>
              </a:ext>
            </a:extLst>
          </p:cNvPr>
          <p:cNvSpPr/>
          <p:nvPr/>
        </p:nvSpPr>
        <p:spPr>
          <a:xfrm>
            <a:off x="1534001" y="3160276"/>
            <a:ext cx="5488543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Validated individual form fields, input rules, and submission logic to ensure each component behaved correctly in isolation</a:t>
            </a: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8C198F2-5293-2983-CC23-C67DF8C19DA0}"/>
              </a:ext>
            </a:extLst>
          </p:cNvPr>
          <p:cNvSpPr/>
          <p:nvPr/>
        </p:nvSpPr>
        <p:spPr>
          <a:xfrm>
            <a:off x="922020" y="4094678"/>
            <a:ext cx="439103" cy="439102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B236527-D4CD-B4CD-C9AB-4B3C56BD51DE}"/>
              </a:ext>
            </a:extLst>
          </p:cNvPr>
          <p:cNvSpPr/>
          <p:nvPr/>
        </p:nvSpPr>
        <p:spPr>
          <a:xfrm>
            <a:off x="1011495" y="4151590"/>
            <a:ext cx="260152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9B2E940-8209-7013-C1B8-C0F4182C41CC}"/>
              </a:ext>
            </a:extLst>
          </p:cNvPr>
          <p:cNvSpPr/>
          <p:nvPr/>
        </p:nvSpPr>
        <p:spPr>
          <a:xfrm>
            <a:off x="1534001" y="4161711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Integration Testing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92A5E-585E-7981-8231-F084D4047412}"/>
              </a:ext>
            </a:extLst>
          </p:cNvPr>
          <p:cNvSpPr/>
          <p:nvPr/>
        </p:nvSpPr>
        <p:spPr>
          <a:xfrm>
            <a:off x="1534001" y="4605576"/>
            <a:ext cx="5488543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Verified seamless communication between Make.com automation workflows and Google Sheets, ensuring data passed accurately between systems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4B9B6E5-C686-3411-D711-1B8D7CBDC1F4}"/>
              </a:ext>
            </a:extLst>
          </p:cNvPr>
          <p:cNvSpPr/>
          <p:nvPr/>
        </p:nvSpPr>
        <p:spPr>
          <a:xfrm>
            <a:off x="922020" y="5834301"/>
            <a:ext cx="439103" cy="439102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DD76CB-DEA6-89D1-9B4C-502E6B6A7A1F}"/>
              </a:ext>
            </a:extLst>
          </p:cNvPr>
          <p:cNvSpPr/>
          <p:nvPr/>
        </p:nvSpPr>
        <p:spPr>
          <a:xfrm>
            <a:off x="1011495" y="5891213"/>
            <a:ext cx="260152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3EB9687-80AD-24DC-F3F2-7EF29A53143C}"/>
              </a:ext>
            </a:extLst>
          </p:cNvPr>
          <p:cNvSpPr/>
          <p:nvPr/>
        </p:nvSpPr>
        <p:spPr>
          <a:xfrm>
            <a:off x="1534001" y="5901333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Functional Testing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A143F4B-AF4D-A744-ED38-EFB213481B9B}"/>
              </a:ext>
            </a:extLst>
          </p:cNvPr>
          <p:cNvSpPr/>
          <p:nvPr/>
        </p:nvSpPr>
        <p:spPr>
          <a:xfrm>
            <a:off x="1534001" y="6345198"/>
            <a:ext cx="5488543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Simulated complete student journeys from form submission through to career recommendation output, validating the full workflow</a:t>
            </a:r>
            <a:endParaRPr lang="en-US" sz="15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49226B-CDC5-2B8B-684D-D74A2227079E}"/>
              </a:ext>
            </a:extLst>
          </p:cNvPr>
          <p:cNvSpPr/>
          <p:nvPr/>
        </p:nvSpPr>
        <p:spPr>
          <a:xfrm>
            <a:off x="7560826" y="2183963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Outcomes Achieved</a:t>
            </a:r>
            <a:endParaRPr lang="en-US" sz="17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B6EDECA-21F6-53EB-6187-1A600D7F9D59}"/>
              </a:ext>
            </a:extLst>
          </p:cNvPr>
          <p:cNvSpPr/>
          <p:nvPr/>
        </p:nvSpPr>
        <p:spPr>
          <a:xfrm>
            <a:off x="7560826" y="2649379"/>
            <a:ext cx="6209824" cy="1468517"/>
          </a:xfrm>
          <a:prstGeom prst="roundRect">
            <a:avLst>
              <a:gd name="adj" fmla="val 7472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0D5D286-DFBA-A900-5A22-67FA9D166A79}"/>
              </a:ext>
            </a:extLst>
          </p:cNvPr>
          <p:cNvSpPr/>
          <p:nvPr/>
        </p:nvSpPr>
        <p:spPr>
          <a:xfrm>
            <a:off x="7537966" y="2649379"/>
            <a:ext cx="91440" cy="1468517"/>
          </a:xfrm>
          <a:prstGeom prst="roundRect">
            <a:avLst>
              <a:gd name="adj" fmla="val 89644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61CF12-33B6-B630-B483-64A27D5F408E}"/>
              </a:ext>
            </a:extLst>
          </p:cNvPr>
          <p:cNvSpPr/>
          <p:nvPr/>
        </p:nvSpPr>
        <p:spPr>
          <a:xfrm>
            <a:off x="7847409" y="2867382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Accurate Results</a:t>
            </a:r>
            <a:endParaRPr lang="en-US" sz="17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778C775-639A-0792-65B2-4532337D53F7}"/>
              </a:ext>
            </a:extLst>
          </p:cNvPr>
          <p:cNvSpPr/>
          <p:nvPr/>
        </p:nvSpPr>
        <p:spPr>
          <a:xfrm>
            <a:off x="7847409" y="3311247"/>
            <a:ext cx="5705237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Career recommendations matched expected outputs consistently across all test cases</a:t>
            </a:r>
            <a:endParaRPr lang="en-US" sz="15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85487B8-4FFD-8AEB-C6B8-1347FB7526A4}"/>
              </a:ext>
            </a:extLst>
          </p:cNvPr>
          <p:cNvSpPr/>
          <p:nvPr/>
        </p:nvSpPr>
        <p:spPr>
          <a:xfrm>
            <a:off x="7560826" y="4290774"/>
            <a:ext cx="6209824" cy="1468517"/>
          </a:xfrm>
          <a:prstGeom prst="roundRect">
            <a:avLst>
              <a:gd name="adj" fmla="val 7472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ABDE9A7-4747-66BD-D273-20A1DAF67666}"/>
              </a:ext>
            </a:extLst>
          </p:cNvPr>
          <p:cNvSpPr/>
          <p:nvPr/>
        </p:nvSpPr>
        <p:spPr>
          <a:xfrm>
            <a:off x="7537966" y="4290774"/>
            <a:ext cx="91440" cy="1468517"/>
          </a:xfrm>
          <a:prstGeom prst="roundRect">
            <a:avLst>
              <a:gd name="adj" fmla="val 89644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C9135FD-0707-9BEF-5CD6-7DE7B52CDA07}"/>
              </a:ext>
            </a:extLst>
          </p:cNvPr>
          <p:cNvSpPr/>
          <p:nvPr/>
        </p:nvSpPr>
        <p:spPr>
          <a:xfrm>
            <a:off x="7847409" y="4508778"/>
            <a:ext cx="2240756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Smooth Data Flow</a:t>
            </a:r>
            <a:endParaRPr lang="en-US" sz="1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7A4F22C-D0F0-4976-CCCB-92BA395C9976}"/>
              </a:ext>
            </a:extLst>
          </p:cNvPr>
          <p:cNvSpPr/>
          <p:nvPr/>
        </p:nvSpPr>
        <p:spPr>
          <a:xfrm>
            <a:off x="7847409" y="4952643"/>
            <a:ext cx="5705237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data loss or corruption detected during transfer between frontend and backend services</a:t>
            </a:r>
            <a:endParaRPr lang="en-US" sz="15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7FD4E0F-9C1B-7BD6-07DC-3D040A130D90}"/>
              </a:ext>
            </a:extLst>
          </p:cNvPr>
          <p:cNvSpPr/>
          <p:nvPr/>
        </p:nvSpPr>
        <p:spPr>
          <a:xfrm>
            <a:off x="7560826" y="5932170"/>
            <a:ext cx="6209824" cy="1468517"/>
          </a:xfrm>
          <a:prstGeom prst="roundRect">
            <a:avLst>
              <a:gd name="adj" fmla="val 7472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D3E421E-AE97-EA0E-5D93-977C640AEC32}"/>
              </a:ext>
            </a:extLst>
          </p:cNvPr>
          <p:cNvSpPr/>
          <p:nvPr/>
        </p:nvSpPr>
        <p:spPr>
          <a:xfrm>
            <a:off x="7537966" y="5932170"/>
            <a:ext cx="91440" cy="1468517"/>
          </a:xfrm>
          <a:prstGeom prst="roundRect">
            <a:avLst>
              <a:gd name="adj" fmla="val 89644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164C8BA-3EF0-93F4-8F39-ED375E997E1E}"/>
              </a:ext>
            </a:extLst>
          </p:cNvPr>
          <p:cNvSpPr/>
          <p:nvPr/>
        </p:nvSpPr>
        <p:spPr>
          <a:xfrm>
            <a:off x="7847409" y="6150173"/>
            <a:ext cx="2199799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Zero Major Errors</a:t>
            </a:r>
            <a:endParaRPr lang="en-US" sz="17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AC6180-991C-2FC1-94B9-B9928FA9CA27}"/>
              </a:ext>
            </a:extLst>
          </p:cNvPr>
          <p:cNvSpPr/>
          <p:nvPr/>
        </p:nvSpPr>
        <p:spPr>
          <a:xfrm>
            <a:off x="7847409" y="6594038"/>
            <a:ext cx="5705237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critical paths passed without failure; minor issues were identified and resolved during iteration</a:t>
            </a:r>
            <a:endParaRPr lang="en-US" sz="15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0D00CB6-D7E9-D474-6391-7D6A21A28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07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20750A-45EE-3A16-6E2A-8E002314D6CE}"/>
              </a:ext>
            </a:extLst>
          </p:cNvPr>
          <p:cNvSpPr/>
          <p:nvPr/>
        </p:nvSpPr>
        <p:spPr>
          <a:xfrm>
            <a:off x="881063" y="825937"/>
            <a:ext cx="7081242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Challenges Faced &amp; Key Learnings</a:t>
            </a:r>
            <a:endParaRPr lang="en-US" sz="3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A2BD31-540E-785A-EFF0-68552814072D}"/>
              </a:ext>
            </a:extLst>
          </p:cNvPr>
          <p:cNvSpPr/>
          <p:nvPr/>
        </p:nvSpPr>
        <p:spPr>
          <a:xfrm>
            <a:off x="881063" y="1664256"/>
            <a:ext cx="12868275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Building a real-world automation system presented significant technical obstacles — each of which became a powerful opportunity for growth and deeper understanding of modern web architecture.</a:t>
            </a:r>
            <a:endParaRPr lang="en-US" sz="14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83EA28B-20D5-C3E2-800B-484E8019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397562"/>
            <a:ext cx="1554599" cy="960715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F6697B2-C197-DD5C-908A-F1CFF337EF41}"/>
              </a:ext>
            </a:extLst>
          </p:cNvPr>
          <p:cNvSpPr/>
          <p:nvPr/>
        </p:nvSpPr>
        <p:spPr>
          <a:xfrm>
            <a:off x="881063" y="3557230"/>
            <a:ext cx="3421261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Frontend–Automation Integration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221E79F-7E7A-CD6C-C37A-3A8803E51355}"/>
              </a:ext>
            </a:extLst>
          </p:cNvPr>
          <p:cNvSpPr/>
          <p:nvPr/>
        </p:nvSpPr>
        <p:spPr>
          <a:xfrm>
            <a:off x="881063" y="3912632"/>
            <a:ext cx="415671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Bridging the gap between the HTML frontend and Make.com automation required careful mapping of data fields, webhook configurations, and error handling protocols</a:t>
            </a:r>
            <a:endParaRPr lang="en-US" sz="14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812B617-D6A0-2D0E-6DD1-F9FF7E222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726" y="2397562"/>
            <a:ext cx="1554599" cy="96071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D5631F7-832F-FD72-FB66-95BA4FF31C68}"/>
              </a:ext>
            </a:extLst>
          </p:cNvPr>
          <p:cNvSpPr/>
          <p:nvPr/>
        </p:nvSpPr>
        <p:spPr>
          <a:xfrm>
            <a:off x="5236726" y="3557230"/>
            <a:ext cx="2409944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Data Transfer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DDA3CA7-1531-ED0B-3D16-100565607541}"/>
              </a:ext>
            </a:extLst>
          </p:cNvPr>
          <p:cNvSpPr/>
          <p:nvPr/>
        </p:nvSpPr>
        <p:spPr>
          <a:xfrm>
            <a:off x="5236726" y="3912632"/>
            <a:ext cx="4156829" cy="83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Ensuring consistent, low-latency data transmission without loss or duplication demanded precise trigger logic and thorough scenario testing within Make.com</a:t>
            </a:r>
            <a:endParaRPr lang="en-US" sz="14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E6E09B3A-CC08-E6EA-89FE-87448E7AF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508" y="2397562"/>
            <a:ext cx="1554599" cy="960715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F4C49518-F690-87CF-8CFF-CE6C4706F742}"/>
              </a:ext>
            </a:extLst>
          </p:cNvPr>
          <p:cNvSpPr/>
          <p:nvPr/>
        </p:nvSpPr>
        <p:spPr>
          <a:xfrm>
            <a:off x="9592508" y="3557230"/>
            <a:ext cx="2459712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Codebase &amp; Debugging</a:t>
            </a:r>
            <a:endParaRPr lang="en-US" sz="16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6F78BB7-F411-D6D3-E697-584604C37ECC}"/>
              </a:ext>
            </a:extLst>
          </p:cNvPr>
          <p:cNvSpPr/>
          <p:nvPr/>
        </p:nvSpPr>
        <p:spPr>
          <a:xfrm>
            <a:off x="9592508" y="3912632"/>
            <a:ext cx="4156829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Managing a growing codebase while debugging webhook responses required structured version control and systematic troubleshooting methodologies</a:t>
            </a:r>
            <a:endParaRPr lang="en-US" sz="14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B4B78A7-A066-6495-3537-5926E197FC0E}"/>
              </a:ext>
            </a:extLst>
          </p:cNvPr>
          <p:cNvSpPr/>
          <p:nvPr/>
        </p:nvSpPr>
        <p:spPr>
          <a:xfrm>
            <a:off x="881063" y="5200293"/>
            <a:ext cx="6354604" cy="1022152"/>
          </a:xfrm>
          <a:prstGeom prst="roundRect">
            <a:avLst>
              <a:gd name="adj" fmla="val 769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75A6C5D-428B-EBD0-1D98-ECCDA51C32A0}"/>
              </a:ext>
            </a:extLst>
          </p:cNvPr>
          <p:cNvSpPr/>
          <p:nvPr/>
        </p:nvSpPr>
        <p:spPr>
          <a:xfrm>
            <a:off x="1075849" y="5395079"/>
            <a:ext cx="253531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🔁</a:t>
            </a: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Workflow Automation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4D62609-15EE-506A-E1AD-753019D3AC5F}"/>
              </a:ext>
            </a:extLst>
          </p:cNvPr>
          <p:cNvSpPr/>
          <p:nvPr/>
        </p:nvSpPr>
        <p:spPr>
          <a:xfrm>
            <a:off x="1075849" y="5750481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Mastered scenario-based automation using triggers, filters, and routers</a:t>
            </a:r>
            <a:endParaRPr lang="en-US" sz="145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FD39978-44A1-7915-3915-D55DA74ED2DC}"/>
              </a:ext>
            </a:extLst>
          </p:cNvPr>
          <p:cNvSpPr/>
          <p:nvPr/>
        </p:nvSpPr>
        <p:spPr>
          <a:xfrm>
            <a:off x="7394734" y="5200293"/>
            <a:ext cx="6354604" cy="1022152"/>
          </a:xfrm>
          <a:prstGeom prst="roundRect">
            <a:avLst>
              <a:gd name="adj" fmla="val 769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C4252B1-5338-AF76-C7E3-9C009F1D7743}"/>
              </a:ext>
            </a:extLst>
          </p:cNvPr>
          <p:cNvSpPr/>
          <p:nvPr/>
        </p:nvSpPr>
        <p:spPr>
          <a:xfrm>
            <a:off x="7589520" y="5395079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🔗</a:t>
            </a: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API &amp; Webhooks</a:t>
            </a:r>
            <a:endParaRPr lang="en-US" sz="1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7A44B76-2563-1ABE-369B-F677707E7237}"/>
              </a:ext>
            </a:extLst>
          </p:cNvPr>
          <p:cNvSpPr/>
          <p:nvPr/>
        </p:nvSpPr>
        <p:spPr>
          <a:xfrm>
            <a:off x="7589520" y="5750481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Gained hands-on experience designing and consuming RESTful integrations</a:t>
            </a:r>
            <a:endParaRPr lang="en-US" sz="14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62EAA3B5-DB42-BDD4-A133-C05D5A8E8419}"/>
              </a:ext>
            </a:extLst>
          </p:cNvPr>
          <p:cNvSpPr/>
          <p:nvPr/>
        </p:nvSpPr>
        <p:spPr>
          <a:xfrm>
            <a:off x="881063" y="6381512"/>
            <a:ext cx="6354604" cy="1022152"/>
          </a:xfrm>
          <a:prstGeom prst="roundRect">
            <a:avLst>
              <a:gd name="adj" fmla="val 769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9EF43DA-8F09-F151-EF27-EA48857F47C7}"/>
              </a:ext>
            </a:extLst>
          </p:cNvPr>
          <p:cNvSpPr/>
          <p:nvPr/>
        </p:nvSpPr>
        <p:spPr>
          <a:xfrm>
            <a:off x="1075849" y="6576298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🏗️</a:t>
            </a: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System Design</a:t>
            </a:r>
            <a:endParaRPr lang="en-US" sz="16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11089AC-BD2D-3236-BA15-DB7AC1F44928}"/>
              </a:ext>
            </a:extLst>
          </p:cNvPr>
          <p:cNvSpPr/>
          <p:nvPr/>
        </p:nvSpPr>
        <p:spPr>
          <a:xfrm>
            <a:off x="1075849" y="6931700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Applied practical architecture principles to build a maintainable solution</a:t>
            </a:r>
            <a:endParaRPr lang="en-US" sz="145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DD60DE4-FF2C-1EEA-DD29-61E45FA3BE73}"/>
              </a:ext>
            </a:extLst>
          </p:cNvPr>
          <p:cNvSpPr/>
          <p:nvPr/>
        </p:nvSpPr>
        <p:spPr>
          <a:xfrm>
            <a:off x="7394734" y="6381512"/>
            <a:ext cx="6354604" cy="1022152"/>
          </a:xfrm>
          <a:prstGeom prst="roundRect">
            <a:avLst>
              <a:gd name="adj" fmla="val 769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6FB3955-EB69-A32E-1DE9-4A04E1FB55D0}"/>
              </a:ext>
            </a:extLst>
          </p:cNvPr>
          <p:cNvSpPr/>
          <p:nvPr/>
        </p:nvSpPr>
        <p:spPr>
          <a:xfrm>
            <a:off x="7589520" y="6576298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🧩</a:t>
            </a: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Problem-Solving</a:t>
            </a:r>
            <a:endParaRPr lang="en-US" sz="16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2EABFA1-8668-8B06-1205-891FCFE3C66F}"/>
              </a:ext>
            </a:extLst>
          </p:cNvPr>
          <p:cNvSpPr/>
          <p:nvPr/>
        </p:nvSpPr>
        <p:spPr>
          <a:xfrm>
            <a:off x="7589520" y="6931700"/>
            <a:ext cx="596503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Developed resilience and analytical thinking under real project constraints</a:t>
            </a:r>
            <a:endParaRPr lang="en-US" sz="14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7D84C7B-6117-B149-AA42-280C59213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89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38AF97-3B08-9967-4EEB-AE635CE68760}"/>
              </a:ext>
            </a:extLst>
          </p:cNvPr>
          <p:cNvSpPr/>
          <p:nvPr/>
        </p:nvSpPr>
        <p:spPr>
          <a:xfrm>
            <a:off x="881063" y="706041"/>
            <a:ext cx="1394222" cy="308610"/>
          </a:xfrm>
          <a:prstGeom prst="roundRect">
            <a:avLst>
              <a:gd name="adj" fmla="val 19188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CC09E81-83F2-AFE1-272B-686123D5A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790" y="789861"/>
            <a:ext cx="140970" cy="14097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6E05B2D-0625-5933-F487-51E7141C0E04}"/>
              </a:ext>
            </a:extLst>
          </p:cNvPr>
          <p:cNvSpPr/>
          <p:nvPr/>
        </p:nvSpPr>
        <p:spPr>
          <a:xfrm>
            <a:off x="1198245" y="758904"/>
            <a:ext cx="97131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019CA9A-C491-FF32-E99C-B3DB81671130}"/>
              </a:ext>
            </a:extLst>
          </p:cNvPr>
          <p:cNvSpPr/>
          <p:nvPr/>
        </p:nvSpPr>
        <p:spPr>
          <a:xfrm>
            <a:off x="881063" y="1070967"/>
            <a:ext cx="586823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Scope &amp; Enhancements</a:t>
            </a:r>
            <a:endParaRPr lang="en-US" sz="30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22794B3-7D90-5C78-F4BD-758208BD9BC2}"/>
              </a:ext>
            </a:extLst>
          </p:cNvPr>
          <p:cNvSpPr/>
          <p:nvPr/>
        </p:nvSpPr>
        <p:spPr>
          <a:xfrm>
            <a:off x="881063" y="1771888"/>
            <a:ext cx="1286827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current system establishes a strong foundation. The roadmap below outlines high-impact enhancements that will transform this into a comprehensive, AI-powered career intelligence platform.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770A9F-610B-9EF3-4CA6-617CEFEBC6AC}"/>
              </a:ext>
            </a:extLst>
          </p:cNvPr>
          <p:cNvSpPr/>
          <p:nvPr/>
        </p:nvSpPr>
        <p:spPr>
          <a:xfrm>
            <a:off x="7303770" y="2437924"/>
            <a:ext cx="22860" cy="5085636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3F1B377-F0B4-AEE0-08C7-F0B0EEFA6BC3}"/>
              </a:ext>
            </a:extLst>
          </p:cNvPr>
          <p:cNvSpPr/>
          <p:nvPr/>
        </p:nvSpPr>
        <p:spPr>
          <a:xfrm>
            <a:off x="6611183" y="2624733"/>
            <a:ext cx="528638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4052EEC-845C-8BD0-BAA3-29D06DFA61D4}"/>
              </a:ext>
            </a:extLst>
          </p:cNvPr>
          <p:cNvSpPr/>
          <p:nvPr/>
        </p:nvSpPr>
        <p:spPr>
          <a:xfrm>
            <a:off x="7116961" y="2437924"/>
            <a:ext cx="396478" cy="39647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0C7E5E9-C3DF-44E5-4FDC-B8BEC7AB1EF0}"/>
              </a:ext>
            </a:extLst>
          </p:cNvPr>
          <p:cNvSpPr/>
          <p:nvPr/>
        </p:nvSpPr>
        <p:spPr>
          <a:xfrm>
            <a:off x="7197745" y="2489359"/>
            <a:ext cx="23491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8746D1D-2505-82D5-2817-081EAD34449E}"/>
              </a:ext>
            </a:extLst>
          </p:cNvPr>
          <p:cNvSpPr/>
          <p:nvPr/>
        </p:nvSpPr>
        <p:spPr>
          <a:xfrm>
            <a:off x="4476036" y="2498408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EF75BA5-3A71-3AC8-4A14-B60F746CB154}"/>
              </a:ext>
            </a:extLst>
          </p:cNvPr>
          <p:cNvSpPr/>
          <p:nvPr/>
        </p:nvSpPr>
        <p:spPr>
          <a:xfrm>
            <a:off x="881063" y="2827734"/>
            <a:ext cx="555307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 Career Prediction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Integrate machine learning models to provide personalised, data-driven career path predictions based on student profiles</a:t>
            </a:r>
            <a:endParaRPr lang="en-US" sz="13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C1941C8-2DAB-AAF8-C85C-38FA9CD138A6}"/>
              </a:ext>
            </a:extLst>
          </p:cNvPr>
          <p:cNvSpPr/>
          <p:nvPr/>
        </p:nvSpPr>
        <p:spPr>
          <a:xfrm>
            <a:off x="7490579" y="3611523"/>
            <a:ext cx="528638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80414EE-1B8C-11DE-7C53-5DADCE51B873}"/>
              </a:ext>
            </a:extLst>
          </p:cNvPr>
          <p:cNvSpPr/>
          <p:nvPr/>
        </p:nvSpPr>
        <p:spPr>
          <a:xfrm>
            <a:off x="7116961" y="3424714"/>
            <a:ext cx="396478" cy="39647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2DE2B54-8800-AAB7-5315-CF141387A479}"/>
              </a:ext>
            </a:extLst>
          </p:cNvPr>
          <p:cNvSpPr/>
          <p:nvPr/>
        </p:nvSpPr>
        <p:spPr>
          <a:xfrm>
            <a:off x="7197745" y="3476149"/>
            <a:ext cx="23491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DE60A2A-9E9A-BBA6-7654-400A2B3230C8}"/>
              </a:ext>
            </a:extLst>
          </p:cNvPr>
          <p:cNvSpPr/>
          <p:nvPr/>
        </p:nvSpPr>
        <p:spPr>
          <a:xfrm>
            <a:off x="8196262" y="3485198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A70ED9A-3621-BFCD-729A-D86CA3450C54}"/>
              </a:ext>
            </a:extLst>
          </p:cNvPr>
          <p:cNvSpPr/>
          <p:nvPr/>
        </p:nvSpPr>
        <p:spPr>
          <a:xfrm>
            <a:off x="8196262" y="3814524"/>
            <a:ext cx="555307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Power BI Dashboards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Embed interactive analytics for administrators to monitor trends, track usage, and derive institutional insights</a:t>
            </a:r>
            <a:endParaRPr lang="en-US" sz="13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D585746C-F71C-215B-BDCA-A7942E62C77E}"/>
              </a:ext>
            </a:extLst>
          </p:cNvPr>
          <p:cNvSpPr/>
          <p:nvPr/>
        </p:nvSpPr>
        <p:spPr>
          <a:xfrm>
            <a:off x="6611183" y="4487585"/>
            <a:ext cx="528638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8677FF4-F463-E4A8-16F7-16E06C495554}"/>
              </a:ext>
            </a:extLst>
          </p:cNvPr>
          <p:cNvSpPr/>
          <p:nvPr/>
        </p:nvSpPr>
        <p:spPr>
          <a:xfrm>
            <a:off x="7116961" y="4300776"/>
            <a:ext cx="396478" cy="39647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3934D5D-E488-6C43-DA9F-ADA432D9C021}"/>
              </a:ext>
            </a:extLst>
          </p:cNvPr>
          <p:cNvSpPr/>
          <p:nvPr/>
        </p:nvSpPr>
        <p:spPr>
          <a:xfrm>
            <a:off x="7197745" y="4352211"/>
            <a:ext cx="23491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C87A96C-07BC-05EB-B2C7-A7346DFF5FA3}"/>
              </a:ext>
            </a:extLst>
          </p:cNvPr>
          <p:cNvSpPr/>
          <p:nvPr/>
        </p:nvSpPr>
        <p:spPr>
          <a:xfrm>
            <a:off x="4476036" y="4361259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3</a:t>
            </a:r>
            <a:endParaRPr lang="en-US" sz="15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70688E5-66CC-47EC-8638-98308808C76D}"/>
              </a:ext>
            </a:extLst>
          </p:cNvPr>
          <p:cNvSpPr/>
          <p:nvPr/>
        </p:nvSpPr>
        <p:spPr>
          <a:xfrm>
            <a:off x="881063" y="4690586"/>
            <a:ext cx="555307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LinkedIn Integration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Connect student profiles with LinkedIn data to enrich recommendations with real-world industry alignment</a:t>
            </a:r>
            <a:endParaRPr lang="en-US" sz="13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CBC47A0-98C2-65ED-3CAC-5C781C7C3FA6}"/>
              </a:ext>
            </a:extLst>
          </p:cNvPr>
          <p:cNvSpPr/>
          <p:nvPr/>
        </p:nvSpPr>
        <p:spPr>
          <a:xfrm>
            <a:off x="7490579" y="5363766"/>
            <a:ext cx="528638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C8F0A7F-6178-F006-C07B-757345F099BB}"/>
              </a:ext>
            </a:extLst>
          </p:cNvPr>
          <p:cNvSpPr/>
          <p:nvPr/>
        </p:nvSpPr>
        <p:spPr>
          <a:xfrm>
            <a:off x="7116961" y="5176957"/>
            <a:ext cx="396478" cy="39647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9EAE6D9-C434-8136-271F-01D3B923F4BD}"/>
              </a:ext>
            </a:extLst>
          </p:cNvPr>
          <p:cNvSpPr/>
          <p:nvPr/>
        </p:nvSpPr>
        <p:spPr>
          <a:xfrm>
            <a:off x="7197745" y="5228392"/>
            <a:ext cx="23491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B90F0B8-4D2F-4B5B-6363-C04BE4EEDA86}"/>
              </a:ext>
            </a:extLst>
          </p:cNvPr>
          <p:cNvSpPr/>
          <p:nvPr/>
        </p:nvSpPr>
        <p:spPr>
          <a:xfrm>
            <a:off x="8196262" y="5237440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4</a:t>
            </a:r>
            <a:endParaRPr lang="en-US" sz="15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86F1E37-3B71-4C45-9206-BC889BCEB036}"/>
              </a:ext>
            </a:extLst>
          </p:cNvPr>
          <p:cNvSpPr/>
          <p:nvPr/>
        </p:nvSpPr>
        <p:spPr>
          <a:xfrm>
            <a:off x="8196262" y="5566767"/>
            <a:ext cx="555307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Job Recommendations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Surface live job listings matched to each student's recommended career field and skill level</a:t>
            </a:r>
            <a:endParaRPr lang="en-US" sz="135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B2306EC-671A-A09E-B7DD-58A84EF883A4}"/>
              </a:ext>
            </a:extLst>
          </p:cNvPr>
          <p:cNvSpPr/>
          <p:nvPr/>
        </p:nvSpPr>
        <p:spPr>
          <a:xfrm>
            <a:off x="6611183" y="6239947"/>
            <a:ext cx="528638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89EA615-8F68-09DC-E84F-182049916C42}"/>
              </a:ext>
            </a:extLst>
          </p:cNvPr>
          <p:cNvSpPr/>
          <p:nvPr/>
        </p:nvSpPr>
        <p:spPr>
          <a:xfrm>
            <a:off x="7116961" y="6053138"/>
            <a:ext cx="396478" cy="39647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9404B1FA-3AA9-86CD-59F2-D9DB08BA212B}"/>
              </a:ext>
            </a:extLst>
          </p:cNvPr>
          <p:cNvSpPr/>
          <p:nvPr/>
        </p:nvSpPr>
        <p:spPr>
          <a:xfrm>
            <a:off x="7197745" y="6104573"/>
            <a:ext cx="23491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85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FD67154-74C2-7DE3-74E2-F8C8ED11EBAB}"/>
              </a:ext>
            </a:extLst>
          </p:cNvPr>
          <p:cNvSpPr/>
          <p:nvPr/>
        </p:nvSpPr>
        <p:spPr>
          <a:xfrm>
            <a:off x="4476036" y="6113621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5</a:t>
            </a:r>
            <a:endParaRPr lang="en-US" sz="15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E2C4419-52FF-06C4-C279-D74F5CF11CC7}"/>
              </a:ext>
            </a:extLst>
          </p:cNvPr>
          <p:cNvSpPr/>
          <p:nvPr/>
        </p:nvSpPr>
        <p:spPr>
          <a:xfrm>
            <a:off x="881063" y="6442948"/>
            <a:ext cx="555307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Mobile Application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Launch a dedicated iOS and Android app to make career guidance accessible anytime, anywhere</a:t>
            </a:r>
            <a:endParaRPr lang="en-US" sz="13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795EF51-96CF-A3DE-9EB6-D204F7EF6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05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AF4EC9-F929-8DCE-A30E-92D2CA0D2D14}"/>
              </a:ext>
            </a:extLst>
          </p:cNvPr>
          <p:cNvSpPr/>
          <p:nvPr/>
        </p:nvSpPr>
        <p:spPr>
          <a:xfrm>
            <a:off x="881063" y="818198"/>
            <a:ext cx="4650581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A5CE24-8AC1-F6F1-4ACB-2E190458155A}"/>
              </a:ext>
            </a:extLst>
          </p:cNvPr>
          <p:cNvSpPr/>
          <p:nvPr/>
        </p:nvSpPr>
        <p:spPr>
          <a:xfrm>
            <a:off x="881063" y="1797010"/>
            <a:ext cx="1286827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project demonstrates that a well-designed, automation-powered system can meaningfully simplify career decision-making for students at scale.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67ABFC-7865-0911-3195-7F505CCAD2F2}"/>
              </a:ext>
            </a:extLst>
          </p:cNvPr>
          <p:cNvSpPr/>
          <p:nvPr/>
        </p:nvSpPr>
        <p:spPr>
          <a:xfrm>
            <a:off x="881063" y="2347079"/>
            <a:ext cx="12868275" cy="2977515"/>
          </a:xfrm>
          <a:prstGeom prst="roundRect">
            <a:avLst>
              <a:gd name="adj" fmla="val 295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7C4423-4EF6-EF81-D886-1C69A68FE1A6}"/>
              </a:ext>
            </a:extLst>
          </p:cNvPr>
          <p:cNvSpPr/>
          <p:nvPr/>
        </p:nvSpPr>
        <p:spPr>
          <a:xfrm>
            <a:off x="888683" y="2354699"/>
            <a:ext cx="6426518" cy="1481138"/>
          </a:xfrm>
          <a:prstGeom prst="roundRect">
            <a:avLst>
              <a:gd name="adj" fmla="val 5934"/>
            </a:avLst>
          </a:prstGeom>
          <a:solidFill>
            <a:srgbClr val="542C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EFA78D-DFEA-6DE6-5EA2-993E0D8C2787}"/>
              </a:ext>
            </a:extLst>
          </p:cNvPr>
          <p:cNvSpPr/>
          <p:nvPr/>
        </p:nvSpPr>
        <p:spPr>
          <a:xfrm>
            <a:off x="1097875" y="2563892"/>
            <a:ext cx="2331958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System Delivered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7431F6-12E5-4BF4-2108-1586E3B504FD}"/>
              </a:ext>
            </a:extLst>
          </p:cNvPr>
          <p:cNvSpPr/>
          <p:nvPr/>
        </p:nvSpPr>
        <p:spPr>
          <a:xfrm>
            <a:off x="1097875" y="2973705"/>
            <a:ext cx="6008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Successfully designed, built, and deployed a fully functional career guidance system from concept to completion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EC2414-A02A-18C7-455D-55D0B7088F10}"/>
              </a:ext>
            </a:extLst>
          </p:cNvPr>
          <p:cNvSpPr/>
          <p:nvPr/>
        </p:nvSpPr>
        <p:spPr>
          <a:xfrm>
            <a:off x="7315200" y="2354699"/>
            <a:ext cx="6426518" cy="1481138"/>
          </a:xfrm>
          <a:prstGeom prst="rect">
            <a:avLst/>
          </a:prstGeom>
          <a:solidFill>
            <a:srgbClr val="542C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63423F3-A9A0-7317-C022-72CCA7F79600}"/>
              </a:ext>
            </a:extLst>
          </p:cNvPr>
          <p:cNvSpPr/>
          <p:nvPr/>
        </p:nvSpPr>
        <p:spPr>
          <a:xfrm>
            <a:off x="7315200" y="2354699"/>
            <a:ext cx="22860" cy="1481138"/>
          </a:xfrm>
          <a:prstGeom prst="roundRect">
            <a:avLst>
              <a:gd name="adj" fmla="val 384505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5B1E38-D497-43D2-9C4D-4682A1470D39}"/>
              </a:ext>
            </a:extLst>
          </p:cNvPr>
          <p:cNvSpPr/>
          <p:nvPr/>
        </p:nvSpPr>
        <p:spPr>
          <a:xfrm>
            <a:off x="7524393" y="2563892"/>
            <a:ext cx="2594015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⚙️</a:t>
            </a: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Process Automated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120BF4-429C-AE5A-4E8A-0FB1ECE85746}"/>
              </a:ext>
            </a:extLst>
          </p:cNvPr>
          <p:cNvSpPr/>
          <p:nvPr/>
        </p:nvSpPr>
        <p:spPr>
          <a:xfrm>
            <a:off x="7524393" y="2973705"/>
            <a:ext cx="6008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Eliminated manual decision-making by automating the full career recommendation workflow end-to-end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AC6B837-0FE9-8C24-A714-CE26088B7C27}"/>
              </a:ext>
            </a:extLst>
          </p:cNvPr>
          <p:cNvSpPr/>
          <p:nvPr/>
        </p:nvSpPr>
        <p:spPr>
          <a:xfrm>
            <a:off x="888683" y="3835837"/>
            <a:ext cx="6426518" cy="1481138"/>
          </a:xfrm>
          <a:prstGeom prst="rect">
            <a:avLst/>
          </a:prstGeom>
          <a:solidFill>
            <a:srgbClr val="542C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B729BDB-C8A3-9C3B-EC91-0F4F1196E7DA}"/>
              </a:ext>
            </a:extLst>
          </p:cNvPr>
          <p:cNvSpPr/>
          <p:nvPr/>
        </p:nvSpPr>
        <p:spPr>
          <a:xfrm>
            <a:off x="888683" y="3835837"/>
            <a:ext cx="6426518" cy="22860"/>
          </a:xfrm>
          <a:prstGeom prst="roundRect">
            <a:avLst>
              <a:gd name="adj" fmla="val 384505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BA387F-ED56-C7C9-56AF-2FEA01FEEF50}"/>
              </a:ext>
            </a:extLst>
          </p:cNvPr>
          <p:cNvSpPr/>
          <p:nvPr/>
        </p:nvSpPr>
        <p:spPr>
          <a:xfrm>
            <a:off x="1097875" y="4045029"/>
            <a:ext cx="2872502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🔗</a:t>
            </a: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Seamlessly Integrated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7B7754-76F8-DEB3-2590-F47AC5B88814}"/>
              </a:ext>
            </a:extLst>
          </p:cNvPr>
          <p:cNvSpPr/>
          <p:nvPr/>
        </p:nvSpPr>
        <p:spPr>
          <a:xfrm>
            <a:off x="1097875" y="4454843"/>
            <a:ext cx="6008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Unified the HTML frontend with Make.com and Google Sheets for a cohesive, responsive data pipeline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7C3EF7-AA92-39F6-43D6-B2D22653F2A0}"/>
              </a:ext>
            </a:extLst>
          </p:cNvPr>
          <p:cNvSpPr/>
          <p:nvPr/>
        </p:nvSpPr>
        <p:spPr>
          <a:xfrm>
            <a:off x="7315200" y="3835837"/>
            <a:ext cx="6426518" cy="1481138"/>
          </a:xfrm>
          <a:prstGeom prst="rect">
            <a:avLst/>
          </a:prstGeom>
          <a:solidFill>
            <a:srgbClr val="542C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964A12A-FA96-B42C-34D9-F12D0A8B3149}"/>
              </a:ext>
            </a:extLst>
          </p:cNvPr>
          <p:cNvSpPr/>
          <p:nvPr/>
        </p:nvSpPr>
        <p:spPr>
          <a:xfrm>
            <a:off x="7315200" y="3835837"/>
            <a:ext cx="22860" cy="1481138"/>
          </a:xfrm>
          <a:prstGeom prst="roundRect">
            <a:avLst>
              <a:gd name="adj" fmla="val 384505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946F858-2A71-B0FF-E410-6D3D505E7628}"/>
              </a:ext>
            </a:extLst>
          </p:cNvPr>
          <p:cNvSpPr/>
          <p:nvPr/>
        </p:nvSpPr>
        <p:spPr>
          <a:xfrm>
            <a:off x="7315200" y="3835837"/>
            <a:ext cx="6426518" cy="22860"/>
          </a:xfrm>
          <a:prstGeom prst="roundRect">
            <a:avLst>
              <a:gd name="adj" fmla="val 384505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7F12DA-6A01-4ADC-68EF-6B04C9D9E00B}"/>
              </a:ext>
            </a:extLst>
          </p:cNvPr>
          <p:cNvSpPr/>
          <p:nvPr/>
        </p:nvSpPr>
        <p:spPr>
          <a:xfrm>
            <a:off x="7524393" y="4045029"/>
            <a:ext cx="2325291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📈</a:t>
            </a: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Built to Scale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3B110E6-679B-E49B-5AF5-C69A1CEED8C3}"/>
              </a:ext>
            </a:extLst>
          </p:cNvPr>
          <p:cNvSpPr/>
          <p:nvPr/>
        </p:nvSpPr>
        <p:spPr>
          <a:xfrm>
            <a:off x="7524393" y="4454843"/>
            <a:ext cx="6008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Delivered an architecture that is flexible, maintainable, and ready for future growth and enhancement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7CDBAAA-F99D-033D-CC83-068D5E0497D3}"/>
              </a:ext>
            </a:extLst>
          </p:cNvPr>
          <p:cNvSpPr/>
          <p:nvPr/>
        </p:nvSpPr>
        <p:spPr>
          <a:xfrm>
            <a:off x="881063" y="5652782"/>
            <a:ext cx="12868275" cy="33695"/>
          </a:xfrm>
          <a:prstGeom prst="rect">
            <a:avLst/>
          </a:prstGeom>
          <a:solidFill>
            <a:srgbClr val="DAD8E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CF040EA-DD92-249B-BFDB-BC67D449997C}"/>
              </a:ext>
            </a:extLst>
          </p:cNvPr>
          <p:cNvSpPr/>
          <p:nvPr/>
        </p:nvSpPr>
        <p:spPr>
          <a:xfrm>
            <a:off x="881063" y="5984558"/>
            <a:ext cx="6417826" cy="80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5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5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99BF0AA-D1AB-E4E6-4A91-AAB4E28FF457}"/>
              </a:ext>
            </a:extLst>
          </p:cNvPr>
          <p:cNvSpPr/>
          <p:nvPr/>
        </p:nvSpPr>
        <p:spPr>
          <a:xfrm>
            <a:off x="881063" y="7084814"/>
            <a:ext cx="1286827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i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 appreciate your time and attention. We welcome any questions, feedback, or suggestions.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087965-487E-3110-19C5-2DE537EE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623" y="7783321"/>
            <a:ext cx="1747777" cy="32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90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1688</Words>
  <Application>Microsoft Office PowerPoint</Application>
  <PresentationFormat>Custom</PresentationFormat>
  <Paragraphs>220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Prompt Medium</vt:lpstr>
      <vt:lpstr>Prompt Light</vt:lpstr>
      <vt:lpstr>Mukta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Tushar Thakur</dc:creator>
  <cp:lastModifiedBy>Tushar Thakur</cp:lastModifiedBy>
  <cp:revision>2</cp:revision>
  <dcterms:created xsi:type="dcterms:W3CDTF">2026-04-10T14:03:26Z</dcterms:created>
  <dcterms:modified xsi:type="dcterms:W3CDTF">2026-04-10T14:46:32Z</dcterms:modified>
</cp:coreProperties>
</file>